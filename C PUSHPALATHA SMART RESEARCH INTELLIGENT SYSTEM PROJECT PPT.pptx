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iyappan041987@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hyperlink" Target="mailto:balasubramaniyar2004@gmail.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cpushpalatha9/Smart-Research-Intelligent-System.gi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0404812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323612">
                  <a:extLst>
                    <a:ext uri="{9D8B030D-6E8A-4147-A177-3AD203B41FA5}">
                      <a16:colId xmlns:a16="http://schemas.microsoft.com/office/drawing/2014/main" val="20002"/>
                    </a:ext>
                  </a:extLst>
                </a:gridCol>
                <a:gridCol w="3020036">
                  <a:extLst>
                    <a:ext uri="{9D8B030D-6E8A-4147-A177-3AD203B41FA5}">
                      <a16:colId xmlns:a16="http://schemas.microsoft.com/office/drawing/2014/main" val="20003"/>
                    </a:ext>
                  </a:extLst>
                </a:gridCol>
                <a:gridCol w="19864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  C PUSHPALATHA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AICTE ID:</a:t>
                      </a:r>
                    </a:p>
                    <a:p>
                      <a:pPr marL="0" marR="0" lvl="0" indent="0" algn="l" rtl="0">
                        <a:spcBef>
                          <a:spcPts val="0"/>
                        </a:spcBef>
                        <a:spcAft>
                          <a:spcPts val="0"/>
                        </a:spcAft>
                        <a:buNone/>
                      </a:pPr>
                      <a:r>
                        <a:rPr lang="en-IN" dirty="0">
                          <a:hlinkClick r:id="rId3"/>
                        </a:rPr>
                        <a:t>iyappan041987@gmail.com</a:t>
                      </a:r>
                      <a:endParaRPr lang="en-IN" dirty="0"/>
                    </a:p>
                    <a:p>
                      <a:pPr marL="0" marR="0" lvl="0" indent="0" algn="l" rtl="0">
                        <a:spcBef>
                          <a:spcPts val="0"/>
                        </a:spcBef>
                        <a:spcAft>
                          <a:spcPts val="0"/>
                        </a:spcAft>
                        <a:buNone/>
                      </a:pPr>
                      <a:r>
                        <a:rPr lang="en-IN" dirty="0"/>
                        <a:t>EMAIL ID(as per skills build):</a:t>
                      </a:r>
                    </a:p>
                    <a:p>
                      <a:pPr marL="0" marR="0" lvl="0" indent="0" algn="l" rtl="0">
                        <a:spcBef>
                          <a:spcPts val="0"/>
                        </a:spcBef>
                        <a:spcAft>
                          <a:spcPts val="0"/>
                        </a:spcAft>
                        <a:buNone/>
                      </a:pPr>
                      <a:r>
                        <a:rPr lang="en-IN" dirty="0">
                          <a:hlinkClick r:id="rId4"/>
                        </a:rPr>
                        <a:t>balasubramaniyar2004@gmail.com</a:t>
                      </a:r>
                      <a:endParaRPr lang="en-IN"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      9940163279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5">
            <a:alphaModFix/>
          </a:blip>
          <a:srcRect/>
          <a:stretch/>
        </p:blipFill>
        <p:spPr>
          <a:xfrm>
            <a:off x="4109731" y="3738417"/>
            <a:ext cx="807709"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 &amp; Research]</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Smart Research Intelligent System</a:t>
            </a:r>
            <a:r>
              <a:rPr lang="en-US" sz="2400" b="1" dirty="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262979"/>
          </a:xfrm>
          <a:prstGeom prst="rect">
            <a:avLst/>
          </a:prstGeom>
          <a:noFill/>
        </p:spPr>
        <p:txBody>
          <a:bodyPr wrap="square" rtlCol="0">
            <a:spAutoFit/>
          </a:bodyPr>
          <a:lstStyle/>
          <a:p>
            <a:pPr algn="just" fontAlgn="base"/>
            <a:r>
              <a:rPr lang="en-US" b="1" dirty="0"/>
              <a:t>Problem Statement : Research Agent</a:t>
            </a:r>
            <a:r>
              <a:rPr lang="en-US" dirty="0"/>
              <a:t> </a:t>
            </a:r>
          </a:p>
          <a:p>
            <a:pPr algn="just" fontAlgn="base"/>
            <a:endParaRPr lang="en-US" b="1" dirty="0"/>
          </a:p>
          <a:p>
            <a:pPr algn="just" fontAlgn="base"/>
            <a:r>
              <a:rPr lang="en-US" b="1" dirty="0"/>
              <a:t>The Challenge</a:t>
            </a:r>
          </a:p>
          <a:p>
            <a:pPr algn="just" fontAlgn="base"/>
            <a:r>
              <a:rPr lang="en-US" dirty="0"/>
              <a:t>Research activities often require extensive time and effort in searching academic papers, reviewing literature, extracting key findings, managing references, and organizing information from multiple sources. Researchers, students, and professionals frequently struggle to identify relevant studies, understand complex research topics, and generate structured research reports </a:t>
            </a:r>
            <a:r>
              <a:rPr lang="en-US" dirty="0" err="1"/>
              <a:t>efficiently.The</a:t>
            </a:r>
            <a:r>
              <a:rPr lang="en-US" dirty="0"/>
              <a:t> growing volume of scientific publications makes it difficult to stay updated with the latest developments. Manual literature review and information extraction can be repetitive, time-consuming, and prone to missing critical insights.</a:t>
            </a:r>
          </a:p>
          <a:p>
            <a:pPr algn="just" fontAlgn="base"/>
            <a:r>
              <a:rPr lang="en-US" b="1" dirty="0"/>
              <a:t>The Objective</a:t>
            </a:r>
          </a:p>
          <a:p>
            <a:pPr algn="just" fontAlgn="base"/>
            <a:r>
              <a:rPr lang="en-US" dirty="0"/>
              <a:t>Build an AI-powered Research Agent that assists researchers, students, and professionals throughout the research lifecycle. The solution should:</a:t>
            </a:r>
          </a:p>
          <a:p>
            <a:pPr algn="just" fontAlgn="base"/>
            <a:r>
              <a:rPr lang="en-US" b="1" dirty="0"/>
              <a:t>Literature Search &amp; Retrieval</a:t>
            </a:r>
          </a:p>
          <a:p>
            <a:pPr algn="just" fontAlgn="base"/>
            <a:r>
              <a:rPr lang="en-US" dirty="0"/>
              <a:t>Retrieve relevant academic papers, articles, and research content based on user queries.</a:t>
            </a:r>
          </a:p>
          <a:p>
            <a:pPr algn="just" fontAlgn="base"/>
            <a:r>
              <a:rPr lang="en-US" b="1" dirty="0"/>
              <a:t>Research Summarization</a:t>
            </a:r>
          </a:p>
          <a:p>
            <a:pPr algn="just" fontAlgn="base"/>
            <a:r>
              <a:rPr lang="en-US" dirty="0"/>
              <a:t>Generate concise summaries of research papers, articles, and technical documents.</a:t>
            </a:r>
          </a:p>
          <a:p>
            <a:pPr algn="just" fontAlgn="base"/>
            <a:r>
              <a:rPr lang="en-US" b="1" dirty="0"/>
              <a:t>Knowledge Extraction</a:t>
            </a:r>
          </a:p>
          <a:p>
            <a:pPr algn="just" fontAlgn="base"/>
            <a:r>
              <a:rPr lang="en-US" dirty="0"/>
              <a:t>Extract key findings, methodologies, conclusions, and important insights from research content.</a:t>
            </a:r>
          </a:p>
          <a:p>
            <a:pPr algn="just" fontAlgn="base"/>
            <a:r>
              <a:rPr lang="en-US" b="1" dirty="0"/>
              <a:t>Research Report Generation</a:t>
            </a:r>
          </a:p>
          <a:p>
            <a:pPr algn="just" fontAlgn="base"/>
            <a:r>
              <a:rPr lang="en-US" dirty="0"/>
              <a:t>Automatically generate structured research reports and literature reviews.</a:t>
            </a:r>
          </a:p>
          <a:p>
            <a:pPr algn="just" fontAlgn="base"/>
            <a:r>
              <a:rPr lang="en-US" b="1" dirty="0"/>
              <a:t>Multi-Agent System</a:t>
            </a:r>
          </a:p>
          <a:p>
            <a:pPr algn="just" fontAlgn="base"/>
            <a:r>
              <a:rPr lang="en-US" b="1" dirty="0"/>
              <a:t>Literature Search Agent </a:t>
            </a:r>
            <a:r>
              <a:rPr lang="en-US" dirty="0"/>
              <a:t>– Retrieves relevant research information</a:t>
            </a:r>
          </a:p>
          <a:p>
            <a:pPr algn="just" fontAlgn="base"/>
            <a:r>
              <a:rPr lang="en-US" b="1" dirty="0"/>
              <a:t>Research Summarization Agent </a:t>
            </a:r>
            <a:r>
              <a:rPr lang="en-US" dirty="0"/>
              <a:t>– Summarizes academic papers and articles</a:t>
            </a:r>
          </a:p>
          <a:p>
            <a:pPr algn="just" fontAlgn="base"/>
            <a:r>
              <a:rPr lang="en-US" b="1" dirty="0"/>
              <a:t>Knowledge Extraction Agent </a:t>
            </a:r>
            <a:r>
              <a:rPr lang="en-US" dirty="0"/>
              <a:t>– Extracts key findings and insights</a:t>
            </a:r>
          </a:p>
          <a:p>
            <a:pPr algn="just" fontAlgn="base"/>
            <a:r>
              <a:rPr lang="en-US" b="1" dirty="0"/>
              <a:t>Report Generation Agent </a:t>
            </a:r>
            <a:r>
              <a:rPr lang="en-US" dirty="0"/>
              <a:t>– Generates structured research reports</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693866"/>
          </a:xfrm>
          <a:prstGeom prst="rect">
            <a:avLst/>
          </a:prstGeom>
          <a:noFill/>
        </p:spPr>
        <p:txBody>
          <a:bodyPr wrap="square" rtlCol="0">
            <a:spAutoFit/>
          </a:bodyPr>
          <a:lstStyle/>
          <a:p>
            <a:pPr algn="just"/>
            <a:r>
              <a:rPr lang="en-US" b="1" dirty="0"/>
              <a:t>Proposed Solution: Research Agent</a:t>
            </a:r>
          </a:p>
          <a:p>
            <a:pPr algn="just"/>
            <a:r>
              <a:rPr lang="en-US" dirty="0"/>
              <a:t>The proposed solution is a multi-functional AI-powered Research Agent developed using </a:t>
            </a:r>
            <a:r>
              <a:rPr lang="en-US" b="1" dirty="0" err="1"/>
              <a:t>LangFlow</a:t>
            </a:r>
            <a:r>
              <a:rPr lang="en-US" b="1" dirty="0"/>
              <a:t>, IBM watsonx.ai, and IBM Granite Models </a:t>
            </a:r>
            <a:r>
              <a:rPr lang="en-US" dirty="0"/>
              <a:t>to streamline academic and scientific research activities. The system helps users search, analyze, summarize, and organize research information efficiently.</a:t>
            </a:r>
          </a:p>
          <a:p>
            <a:pPr algn="just"/>
            <a:r>
              <a:rPr lang="en-US" dirty="0"/>
              <a:t>At its core, the solution utilizes IBM Granite Models to understand research queries, retrieve relevant information, and generate meaningful insights. The system assists users by automating literature review, knowledge extraction, report generation, and research organization tasks.</a:t>
            </a:r>
          </a:p>
          <a:p>
            <a:pPr algn="just"/>
            <a:endParaRPr lang="en-US" dirty="0"/>
          </a:p>
          <a:p>
            <a:pPr algn="just"/>
            <a:r>
              <a:rPr lang="en-US" b="1" dirty="0"/>
              <a:t>The system consists of four key agents:</a:t>
            </a:r>
          </a:p>
          <a:p>
            <a:pPr algn="just"/>
            <a:r>
              <a:rPr lang="en-US" b="1" dirty="0"/>
              <a:t>Literature Search Agent</a:t>
            </a:r>
          </a:p>
          <a:p>
            <a:pPr algn="just"/>
            <a:r>
              <a:rPr lang="en-US" dirty="0"/>
              <a:t>Retrieves relevant research papers, articles, and information based on user queries.</a:t>
            </a:r>
          </a:p>
          <a:p>
            <a:pPr algn="just"/>
            <a:r>
              <a:rPr lang="en-US" b="1" dirty="0"/>
              <a:t>Research Summarization Agent</a:t>
            </a:r>
          </a:p>
          <a:p>
            <a:pPr algn="just"/>
            <a:r>
              <a:rPr lang="en-US" dirty="0"/>
              <a:t>Generates concise summaries of academic papers and technical documents.</a:t>
            </a:r>
          </a:p>
          <a:p>
            <a:pPr algn="just"/>
            <a:r>
              <a:rPr lang="en-US" b="1" dirty="0"/>
              <a:t>Knowledge Extraction Agent</a:t>
            </a:r>
          </a:p>
          <a:p>
            <a:pPr algn="just"/>
            <a:r>
              <a:rPr lang="en-US" dirty="0"/>
              <a:t>Extracts key findings, methodologies, conclusions, and important insights from research content.</a:t>
            </a:r>
          </a:p>
          <a:p>
            <a:pPr algn="just"/>
            <a:r>
              <a:rPr lang="en-US" b="1" dirty="0"/>
              <a:t>Report Generation Agent</a:t>
            </a:r>
          </a:p>
          <a:p>
            <a:pPr algn="just"/>
            <a:r>
              <a:rPr lang="en-US" dirty="0"/>
              <a:t>Creates structured research reports and literature reviews from gathered information.</a:t>
            </a:r>
          </a:p>
          <a:p>
            <a:pPr algn="just"/>
            <a:endParaRPr lang="en-US" dirty="0"/>
          </a:p>
          <a:p>
            <a:pPr algn="just"/>
            <a:r>
              <a:rPr lang="en-US" dirty="0"/>
              <a:t>The solution provides a simple conversational interface where users can submit research questions and receive comprehensive responses, summaries, and research insights.</a:t>
            </a:r>
          </a:p>
          <a:p>
            <a:pPr algn="just"/>
            <a:r>
              <a:rPr lang="en-US" b="1" dirty="0" err="1"/>
              <a:t>LangFlow</a:t>
            </a:r>
            <a:r>
              <a:rPr lang="en-US" dirty="0"/>
              <a:t> is used to design and orchestrate the workflow, while </a:t>
            </a:r>
            <a:r>
              <a:rPr lang="en-US" b="1" dirty="0"/>
              <a:t>IBM watsonx.ai </a:t>
            </a:r>
            <a:r>
              <a:rPr lang="en-US" dirty="0"/>
              <a:t>provides model deployment and execution capabilities.</a:t>
            </a:r>
          </a:p>
          <a:p>
            <a:pPr algn="just"/>
            <a:r>
              <a:rPr lang="en-US" b="1" dirty="0"/>
              <a:t>IBM Granite Models </a:t>
            </a:r>
            <a:r>
              <a:rPr lang="en-US" dirty="0"/>
              <a:t>power the reasoning, summarization, and knowledge-generation functionalities.</a:t>
            </a:r>
          </a:p>
          <a:p>
            <a:pPr algn="just"/>
            <a:r>
              <a:rPr lang="en-US" dirty="0"/>
              <a:t>Overall, the solution acts as an intelligent digital research assistant that enhances productivity, reduces manual effort, and accelerates research activities.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10430866" cy="5262979"/>
          </a:xfrm>
          <a:prstGeom prst="rect">
            <a:avLst/>
          </a:prstGeom>
          <a:noFill/>
        </p:spPr>
        <p:txBody>
          <a:bodyPr wrap="square" rtlCol="0">
            <a:spAutoFit/>
          </a:bodyPr>
          <a:lstStyle/>
          <a:p>
            <a:pPr marL="342900" indent="-342900">
              <a:buAutoNum type="arabicParenR"/>
            </a:pPr>
            <a:r>
              <a:rPr lang="en-US" b="1" dirty="0"/>
              <a:t>Chat Input</a:t>
            </a:r>
          </a:p>
          <a:p>
            <a:r>
              <a:rPr lang="en-US" dirty="0"/>
              <a:t>       Interface where users enter research questions, topics, or information requests.</a:t>
            </a:r>
          </a:p>
          <a:p>
            <a:endParaRPr lang="en-US" dirty="0"/>
          </a:p>
          <a:p>
            <a:r>
              <a:rPr lang="en-US" dirty="0"/>
              <a:t>2)    </a:t>
            </a:r>
            <a:r>
              <a:rPr lang="en-US" b="1" dirty="0"/>
              <a:t>IBM watsonx.ai Component</a:t>
            </a:r>
          </a:p>
          <a:p>
            <a:r>
              <a:rPr lang="en-US" dirty="0"/>
              <a:t>       Processes user queries using IBM Granite Models and generates research-oriented responses.</a:t>
            </a:r>
          </a:p>
          <a:p>
            <a:endParaRPr lang="en-US" dirty="0"/>
          </a:p>
          <a:p>
            <a:r>
              <a:rPr lang="en-US" dirty="0"/>
              <a:t>3)    </a:t>
            </a:r>
            <a:r>
              <a:rPr lang="en-US" b="1" dirty="0"/>
              <a:t>Name of IBM Granite Model</a:t>
            </a:r>
          </a:p>
          <a:p>
            <a:r>
              <a:rPr lang="en-US" dirty="0"/>
              <a:t>       Granite-8B-Code-Instruct Provides reasoning, text generation, summarization, and research assistance capabilities.</a:t>
            </a:r>
          </a:p>
          <a:p>
            <a:endParaRPr lang="en-US" dirty="0"/>
          </a:p>
          <a:p>
            <a:r>
              <a:rPr lang="en-US" dirty="0"/>
              <a:t>4)    </a:t>
            </a:r>
            <a:r>
              <a:rPr lang="en-US" b="1" dirty="0"/>
              <a:t>Chat Output</a:t>
            </a:r>
          </a:p>
          <a:p>
            <a:r>
              <a:rPr lang="en-US" dirty="0"/>
              <a:t>       Displays generated summaries, insights, research findings, and reports.</a:t>
            </a:r>
          </a:p>
          <a:p>
            <a:endParaRPr lang="en-US" dirty="0"/>
          </a:p>
          <a:p>
            <a:r>
              <a:rPr lang="en-US" dirty="0"/>
              <a:t>5)    </a:t>
            </a:r>
            <a:r>
              <a:rPr lang="en-US" b="1" dirty="0"/>
              <a:t>System Message Component</a:t>
            </a:r>
          </a:p>
          <a:p>
            <a:r>
              <a:rPr lang="en-US" dirty="0"/>
              <a:t>       Defines the behavior and objectives of the Research Agent.</a:t>
            </a:r>
          </a:p>
          <a:p>
            <a:endParaRPr lang="en-US" dirty="0"/>
          </a:p>
          <a:p>
            <a:pPr marL="342900" indent="-342900">
              <a:buAutoNum type="arabicParenR" startAt="6"/>
            </a:pPr>
            <a:r>
              <a:rPr lang="en-US" b="1" dirty="0"/>
              <a:t>Connection Workflow</a:t>
            </a:r>
          </a:p>
          <a:p>
            <a:r>
              <a:rPr lang="en-US" dirty="0"/>
              <a:t>       Connects user input, IBM Granite processing, and output generation within </a:t>
            </a:r>
            <a:r>
              <a:rPr lang="en-US" dirty="0" err="1"/>
              <a:t>LangFlow</a:t>
            </a:r>
            <a:r>
              <a:rPr lang="en-US" dirty="0"/>
              <a:t>.</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rcRect t="12627" b="5653"/>
          <a:stretch>
            <a:fillRect/>
          </a:stretch>
        </p:blipFill>
        <p:spPr>
          <a:xfrm>
            <a:off x="537590" y="1124125"/>
            <a:ext cx="10590470" cy="5025005"/>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a:blip r:embed="rId3">
            <a:alphaModFix/>
          </a:blip>
          <a:srcRect/>
          <a:stretch/>
        </p:blipFill>
        <p:spPr>
          <a:xfrm>
            <a:off x="1158240" y="1071448"/>
            <a:ext cx="9723120"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401205"/>
          </a:xfrm>
          <a:prstGeom prst="rect">
            <a:avLst/>
          </a:prstGeom>
          <a:noFill/>
        </p:spPr>
        <p:txBody>
          <a:bodyPr wrap="square" rtlCol="0">
            <a:spAutoFit/>
          </a:bodyPr>
          <a:lstStyle/>
          <a:p>
            <a:r>
              <a:rPr lang="en-US" b="1" dirty="0"/>
              <a:t>Role of Agentic AI in Research Agent</a:t>
            </a:r>
          </a:p>
          <a:p>
            <a:pPr algn="just"/>
            <a:endParaRPr lang="en-US" b="1" dirty="0"/>
          </a:p>
          <a:p>
            <a:pPr algn="just"/>
            <a:r>
              <a:rPr lang="en-US" b="1" dirty="0"/>
              <a:t>Agentic AI </a:t>
            </a:r>
            <a:r>
              <a:rPr lang="en-US" dirty="0"/>
              <a:t>enables the Research Agent to function as an intelligent and autonomous research assistant rather than a traditional chatbot.</a:t>
            </a:r>
          </a:p>
          <a:p>
            <a:pPr algn="just"/>
            <a:r>
              <a:rPr lang="en-US" dirty="0"/>
              <a:t>Using </a:t>
            </a:r>
            <a:r>
              <a:rPr lang="en-US" b="1" dirty="0"/>
              <a:t>IBM watsonx.ai and IBM Granite Models</a:t>
            </a:r>
            <a:r>
              <a:rPr lang="en-US" dirty="0"/>
              <a:t>, the system understands research objectives, analyzes user queries, and generates meaningful research insights.</a:t>
            </a:r>
          </a:p>
          <a:p>
            <a:pPr algn="just"/>
            <a:r>
              <a:rPr lang="en-US" dirty="0"/>
              <a:t>Each agent performs specialized tasks such as literature search, summarization, knowledge extraction, and report generation while working together to provide comprehensive research assistance.</a:t>
            </a:r>
          </a:p>
          <a:p>
            <a:pPr algn="just"/>
            <a:endParaRPr lang="en-US" b="1" dirty="0"/>
          </a:p>
          <a:p>
            <a:pPr algn="just"/>
            <a:r>
              <a:rPr lang="en-US" b="1" dirty="0"/>
              <a:t>Agentic AI allows the system to:</a:t>
            </a:r>
          </a:p>
          <a:p>
            <a:pPr marL="285750" indent="-285750" algn="just">
              <a:buFont typeface="Arial" panose="020B0604020202020204" pitchFamily="34" charset="0"/>
              <a:buChar char="•"/>
            </a:pPr>
            <a:r>
              <a:rPr lang="en-US" dirty="0"/>
              <a:t>Understand complex research questions</a:t>
            </a:r>
          </a:p>
          <a:p>
            <a:pPr marL="285750" indent="-285750" algn="just">
              <a:buFont typeface="Arial" panose="020B0604020202020204" pitchFamily="34" charset="0"/>
              <a:buChar char="•"/>
            </a:pPr>
            <a:r>
              <a:rPr lang="en-US" dirty="0"/>
              <a:t>Analyze large volumes of information</a:t>
            </a:r>
          </a:p>
          <a:p>
            <a:pPr marL="285750" indent="-285750" algn="just">
              <a:buFont typeface="Arial" panose="020B0604020202020204" pitchFamily="34" charset="0"/>
              <a:buChar char="•"/>
            </a:pPr>
            <a:r>
              <a:rPr lang="en-US" dirty="0"/>
              <a:t>Generate concise summaries</a:t>
            </a:r>
          </a:p>
          <a:p>
            <a:pPr marL="285750" indent="-285750" algn="just">
              <a:buFont typeface="Arial" panose="020B0604020202020204" pitchFamily="34" charset="0"/>
              <a:buChar char="•"/>
            </a:pPr>
            <a:r>
              <a:rPr lang="en-US" dirty="0"/>
              <a:t>Extract important findings</a:t>
            </a:r>
          </a:p>
          <a:p>
            <a:pPr marL="285750" indent="-285750" algn="just">
              <a:buFont typeface="Arial" panose="020B0604020202020204" pitchFamily="34" charset="0"/>
              <a:buChar char="•"/>
            </a:pPr>
            <a:r>
              <a:rPr lang="en-US" dirty="0"/>
              <a:t>Organize research knowledge</a:t>
            </a:r>
          </a:p>
          <a:p>
            <a:pPr marL="285750" indent="-285750" algn="just">
              <a:buFont typeface="Arial" panose="020B0604020202020204" pitchFamily="34" charset="0"/>
              <a:buChar char="•"/>
            </a:pPr>
            <a:r>
              <a:rPr lang="en-US" dirty="0"/>
              <a:t>Produce structured reports</a:t>
            </a:r>
          </a:p>
          <a:p>
            <a:pPr algn="just"/>
            <a:endParaRPr lang="en-US" b="1" dirty="0"/>
          </a:p>
          <a:p>
            <a:pPr algn="just"/>
            <a:r>
              <a:rPr lang="en-US" dirty="0"/>
              <a:t>Overall, Agentic AI makes the solution proactive, intelligent, and goal-oriented, acting as a virtual research assistant for academic and industrial research.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786199"/>
          </a:xfrm>
          <a:prstGeom prst="rect">
            <a:avLst/>
          </a:prstGeom>
          <a:noFill/>
        </p:spPr>
        <p:txBody>
          <a:bodyPr wrap="square" rtlCol="0">
            <a:spAutoFit/>
          </a:bodyPr>
          <a:lstStyle/>
          <a:p>
            <a:r>
              <a:rPr lang="en-IN" sz="1800" b="1" dirty="0" err="1"/>
              <a:t>LangFlow</a:t>
            </a:r>
            <a:r>
              <a:rPr lang="en-IN" sz="1800" b="1" dirty="0"/>
              <a:t> Platform</a:t>
            </a:r>
          </a:p>
          <a:p>
            <a:r>
              <a:rPr lang="en-IN" sz="1800" dirty="0"/>
              <a:t>For designing and orchestrating AI agent workflows visually.</a:t>
            </a:r>
          </a:p>
          <a:p>
            <a:endParaRPr lang="en-IN" sz="1800" dirty="0"/>
          </a:p>
          <a:p>
            <a:r>
              <a:rPr lang="en-IN" sz="1800" b="1" dirty="0"/>
              <a:t>IBM Granite Model</a:t>
            </a:r>
          </a:p>
          <a:p>
            <a:r>
              <a:rPr lang="en-IN" sz="1800" dirty="0"/>
              <a:t>For natural language understanding, reasoning, summarization, and report generation.</a:t>
            </a:r>
          </a:p>
          <a:p>
            <a:endParaRPr lang="en-IN" sz="1800" dirty="0"/>
          </a:p>
          <a:p>
            <a:r>
              <a:rPr lang="en-IN" sz="1800" b="1" dirty="0"/>
              <a:t>IBM watsonx.ai</a:t>
            </a:r>
          </a:p>
          <a:p>
            <a:r>
              <a:rPr lang="en-IN" sz="1800" dirty="0"/>
              <a:t>For model deployment, execution, and AI governance.</a:t>
            </a:r>
          </a:p>
          <a:p>
            <a:endParaRPr lang="en-IN" sz="1800" dirty="0"/>
          </a:p>
          <a:p>
            <a:r>
              <a:rPr lang="en-IN" sz="1800" b="1" dirty="0"/>
              <a:t>IBM Cloud Lite Services</a:t>
            </a:r>
          </a:p>
          <a:p>
            <a:r>
              <a:rPr lang="en-IN" sz="1800" dirty="0"/>
              <a:t>Provides secure, scalable cloud infrastructure for hosting and deployment.</a:t>
            </a:r>
          </a:p>
          <a:p>
            <a:endParaRPr lang="en-IN" sz="1800" dirty="0"/>
          </a:p>
          <a:p>
            <a:r>
              <a:rPr lang="en-IN" sz="1800" b="1" dirty="0"/>
              <a:t>Agentic AI</a:t>
            </a:r>
          </a:p>
          <a:p>
            <a:r>
              <a:rPr lang="en-IN" sz="1800" dirty="0"/>
              <a:t>Enables autonomous task execution and intelligent decision-making.</a:t>
            </a:r>
          </a:p>
          <a:p>
            <a:endParaRPr lang="en-IN" sz="1800" dirty="0"/>
          </a:p>
          <a:p>
            <a:r>
              <a:rPr lang="en-IN" sz="1800" b="1" dirty="0"/>
              <a:t>Natural Language Processing (NLP)</a:t>
            </a:r>
          </a:p>
          <a:p>
            <a:r>
              <a:rPr lang="en-IN" sz="1800" dirty="0"/>
              <a:t>Allows understanding and processing of research-related queries.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355312"/>
          </a:xfrm>
          <a:prstGeom prst="rect">
            <a:avLst/>
          </a:prstGeom>
          <a:noFill/>
        </p:spPr>
        <p:txBody>
          <a:bodyPr wrap="square" rtlCol="0">
            <a:spAutoFit/>
          </a:bodyPr>
          <a:lstStyle/>
          <a:p>
            <a:r>
              <a:rPr lang="en-US" sz="1800" dirty="0"/>
              <a:t>The proposed Research Agent stands out by combining Agentic AI, IBM Granite Models, and workflow automation into a single intelligent research assistant.</a:t>
            </a:r>
          </a:p>
          <a:p>
            <a:endParaRPr lang="en-US" sz="1800" dirty="0"/>
          </a:p>
          <a:p>
            <a:r>
              <a:rPr lang="en-US" sz="1800" b="1" dirty="0"/>
              <a:t>Multi-Agent Intelligence</a:t>
            </a:r>
          </a:p>
          <a:p>
            <a:r>
              <a:rPr lang="en-US" sz="1800" dirty="0"/>
              <a:t>Specialized agents collaborate to perform research-related tasks efficiently.</a:t>
            </a:r>
          </a:p>
          <a:p>
            <a:r>
              <a:rPr lang="en-US" sz="1800" b="1" dirty="0"/>
              <a:t>Automated Research Assistance</a:t>
            </a:r>
          </a:p>
          <a:p>
            <a:r>
              <a:rPr lang="en-US" sz="1800" dirty="0"/>
              <a:t>Reduces manual effort involved in literature review and information gathering.</a:t>
            </a:r>
          </a:p>
          <a:p>
            <a:r>
              <a:rPr lang="en-US" sz="1800" b="1" dirty="0"/>
              <a:t>Intelligent Summarization</a:t>
            </a:r>
          </a:p>
          <a:p>
            <a:r>
              <a:rPr lang="en-US" sz="1800" dirty="0"/>
              <a:t>Generates concise and meaningful summaries from complex research content.</a:t>
            </a:r>
          </a:p>
          <a:p>
            <a:r>
              <a:rPr lang="en-US" sz="1800" b="1" dirty="0"/>
              <a:t>Knowledge Extraction</a:t>
            </a:r>
          </a:p>
          <a:p>
            <a:r>
              <a:rPr lang="en-US" sz="1800" dirty="0"/>
              <a:t>Automatically identifies key findings, methodologies, and conclusions.</a:t>
            </a:r>
          </a:p>
          <a:p>
            <a:r>
              <a:rPr lang="en-US" sz="1800" b="1" dirty="0"/>
              <a:t>Report Generation</a:t>
            </a:r>
          </a:p>
          <a:p>
            <a:r>
              <a:rPr lang="en-US" sz="1800" dirty="0"/>
              <a:t>Creates structured research reports and documentation.</a:t>
            </a:r>
          </a:p>
          <a:p>
            <a:r>
              <a:rPr lang="en-US" sz="1800" b="1" dirty="0"/>
              <a:t>IBM Granite-Powered Reasoning</a:t>
            </a:r>
          </a:p>
          <a:p>
            <a:r>
              <a:rPr lang="en-US" sz="1800" dirty="0"/>
              <a:t>Leverages advanced IBM AI capabilities for accurate and context-aware responses.</a:t>
            </a:r>
          </a:p>
          <a:p>
            <a:r>
              <a:rPr lang="en-US" sz="1800" b="1" dirty="0"/>
              <a:t>Scalable and Enterprise-Ready</a:t>
            </a:r>
          </a:p>
          <a:p>
            <a:r>
              <a:rPr lang="en-US" sz="1800" dirty="0"/>
              <a:t>Built using IBM watsonx.ai and IBM Cloud technologies.</a:t>
            </a:r>
          </a:p>
          <a:p>
            <a:endParaRPr lang="en-US" sz="1800" dirty="0"/>
          </a:p>
          <a:p>
            <a:r>
              <a:rPr lang="en-US" sz="1800" dirty="0"/>
              <a:t>This transforms traditional research workflows into a faster, smarter, and more efficient process.</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https://github.com/cpushpalatha9/Smart-Research-Intelligent-System.git</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5215556"/>
          </a:xfrm>
          <a:prstGeom prst="rect">
            <a:avLst/>
          </a:prstGeom>
          <a:noFill/>
          <a:ln>
            <a:noFill/>
          </a:ln>
        </p:spPr>
        <p:txBody>
          <a:bodyPr spcFirstLastPara="1" wrap="square" lIns="0" tIns="0" rIns="0" bIns="0" anchor="t" anchorCtr="0">
            <a:noAutofit/>
          </a:bodyPr>
          <a:lstStyle/>
          <a:p>
            <a:pPr marR="0" lvl="0" algn="l" rtl="0">
              <a:lnSpc>
                <a:spcPct val="162162"/>
              </a:lnSpc>
              <a:spcBef>
                <a:spcPts val="0"/>
              </a:spcBef>
              <a:spcAft>
                <a:spcPts val="0"/>
              </a:spcAft>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1. Integration with Research Databases</a:t>
            </a:r>
          </a:p>
          <a:p>
            <a:pPr marR="0" lvl="0" algn="l" rtl="0">
              <a:lnSpc>
                <a:spcPct val="162162"/>
              </a:lnSpc>
              <a:spcBef>
                <a:spcPts val="0"/>
              </a:spcBef>
              <a:spcAft>
                <a:spcPts val="0"/>
              </a:spcAft>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Connect with IEEE, Springer, </a:t>
            </a:r>
            <a:r>
              <a:rPr lang="en-US" sz="1850" b="1" i="0" u="none" strike="noStrike" cap="none" dirty="0" err="1">
                <a:solidFill>
                  <a:srgbClr val="2B3541"/>
                </a:solidFill>
                <a:latin typeface="Times New Roman"/>
                <a:ea typeface="Times New Roman"/>
                <a:cs typeface="Times New Roman"/>
                <a:sym typeface="Times New Roman"/>
              </a:rPr>
              <a:t>arXiv</a:t>
            </a:r>
            <a:r>
              <a:rPr lang="en-US" sz="1850" b="1" i="0" u="none" strike="noStrike" cap="none" dirty="0">
                <a:solidFill>
                  <a:srgbClr val="2B3541"/>
                </a:solidFill>
                <a:latin typeface="Times New Roman"/>
                <a:ea typeface="Times New Roman"/>
                <a:cs typeface="Times New Roman"/>
                <a:sym typeface="Times New Roman"/>
              </a:rPr>
              <a:t>, PubMed, and Google Scholar for real-time research retrieval.</a:t>
            </a:r>
          </a:p>
          <a:p>
            <a:pPr marR="0" lvl="0" algn="l" rtl="0">
              <a:lnSpc>
                <a:spcPct val="162162"/>
              </a:lnSpc>
              <a:spcBef>
                <a:spcPts val="0"/>
              </a:spcBef>
              <a:spcAft>
                <a:spcPts val="0"/>
              </a:spcAft>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2. Citation Management</a:t>
            </a:r>
          </a:p>
          <a:p>
            <a:pPr marR="0" lvl="0" algn="l" rtl="0">
              <a:lnSpc>
                <a:spcPct val="162162"/>
              </a:lnSpc>
              <a:spcBef>
                <a:spcPts val="0"/>
              </a:spcBef>
              <a:spcAft>
                <a:spcPts val="0"/>
              </a:spcAft>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Automatically generate APA, MLA, IEEE, and Chicago citations.</a:t>
            </a:r>
          </a:p>
          <a:p>
            <a:pPr marR="0" lvl="0" algn="l" rtl="0">
              <a:lnSpc>
                <a:spcPct val="162162"/>
              </a:lnSpc>
              <a:spcBef>
                <a:spcPts val="0"/>
              </a:spcBef>
              <a:spcAft>
                <a:spcPts val="0"/>
              </a:spcAft>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3. Research Paper Upload Analysis</a:t>
            </a:r>
          </a:p>
          <a:p>
            <a:pPr marR="0" lvl="0" algn="l" rtl="0">
              <a:lnSpc>
                <a:spcPct val="162162"/>
              </a:lnSpc>
              <a:spcBef>
                <a:spcPts val="0"/>
              </a:spcBef>
              <a:spcAft>
                <a:spcPts val="0"/>
              </a:spcAft>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Allow users to upload PDFs and receive summaries, insights, and key findings.</a:t>
            </a:r>
          </a:p>
          <a:p>
            <a:pPr marR="0" lvl="0" algn="l" rtl="0">
              <a:lnSpc>
                <a:spcPct val="162162"/>
              </a:lnSpc>
              <a:spcBef>
                <a:spcPts val="0"/>
              </a:spcBef>
              <a:spcAft>
                <a:spcPts val="0"/>
              </a:spcAft>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4. Multi-Agent Collaboration</a:t>
            </a:r>
          </a:p>
          <a:p>
            <a:pPr marR="0" lvl="0" algn="l" rtl="0">
              <a:lnSpc>
                <a:spcPct val="162162"/>
              </a:lnSpc>
              <a:spcBef>
                <a:spcPts val="0"/>
              </a:spcBef>
              <a:spcAft>
                <a:spcPts val="0"/>
              </a:spcAft>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Introduce specialized agents for literature review, citation generation, and hypothesis development. </a:t>
            </a:r>
          </a:p>
          <a:p>
            <a:pPr marR="0" lvl="0" algn="l" rtl="0">
              <a:lnSpc>
                <a:spcPct val="162162"/>
              </a:lnSpc>
              <a:spcBef>
                <a:spcPts val="0"/>
              </a:spcBef>
              <a:spcAft>
                <a:spcPts val="0"/>
              </a:spcAft>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This format closely matches the IBM submission template structure and wording style.</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1341</TotalTime>
  <Words>1253</Words>
  <Application>Microsoft Office PowerPoint</Application>
  <PresentationFormat>Widescreen</PresentationFormat>
  <Paragraphs>169</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MOHAN RAAJ C</cp:lastModifiedBy>
  <cp:revision>24</cp:revision>
  <dcterms:created xsi:type="dcterms:W3CDTF">2025-07-08T05:06:56Z</dcterms:created>
  <dcterms:modified xsi:type="dcterms:W3CDTF">2026-06-05T16:57:34Z</dcterms:modified>
</cp:coreProperties>
</file>